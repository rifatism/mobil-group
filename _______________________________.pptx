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Мы представляем отчёт по учебной практике — разработка корпоративного сайта и информационной системы для компании «МобилСервис». Над проектом работала команда из трёх человек, ТюмГУ, 2026 год.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«МобилСервис» — компания в сфере мониторинга транспорта и сервисного обслуживания. Цель практики — разработать современный корпоративный сайт, который презентует компанию, привлекает клиентов и кандидатов, а также объединяет внутренние сервисы. Проект охватил три технических задания.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у компании был старый одностраничный сайт, собранный на конструкторе Tilda. Это был лендинг-лонгрид с устаревшим дизайном. Здесь скриншот старого сайта, а справа — его ключевые недостатки, которые и стали причиной разработки нового ресурса.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объединил три технических задания. Первое — корпоративный сайт с CMS. Второе — система управления документацией и база знаний. Третье — клиентский портал с интеграцией мониторинга транспорта и дашбордами. Это задало модульную структуру всей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Технологический стек. Серверная часть — PHP с REST API и JWT-авторизацией. База данных — MySQL 8. Фронтенд — нативный HTML, CSS и JavaScript без тяжёлых фреймворков. Всё окружение собрано в Docker Compose: Nginx, PHP-бэкенд и MySQL в отдельных контейнерах.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системы построена по клиент-серверному принципу. Браузер клиента обращается к Nginx, который отдаёт фронтенд. Динамические запросы идут к PHP REST API с JWT-авторизацией, а тот работает с базой MySQL. Все три сервиса изолированы в Docker-контейнерах и поднимаются одной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сайта делится на три уровня доступа. Публичная часть — главная, о компании, услуги, новости, карьера, контакты. Личный кабинет клиента с дашбордом мониторинга и профилем. И административная часть — CMS и база знаний для сотрудников. Доступ разграничен по ролям.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страница и публичный сайт. Здесь полноэкранный hero-слайдер, блоки услуг, статистика, новости и форма обратной связи. Дизайн адаптивный, в фирменных цветах компании. Сюда вставим скриншот главной страницы.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Административная панель — система управления контентом. Через неё сотрудники управляют новостями, вакансиями, страницами, медиафайлами и пользователями. Доступ только у роли admin. Сюда вставим скриншот админ-панели.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База знаний — единая среда для корпоративной документации. Регламенты, инструкции, политики, шаблоны и FAQ. Есть поиск по содержимому, управление версиями и разграничение прав. Сюда вставим скриншот базы знаний.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Личный кабинет клиента с интеграцией мониторинга транспорта. Дашборд показывает количество перевозок, транспорт в пути, выполненные и проблемные рейсы, карту и статистику по периодам. Доступны отчёты и уведомления. Сюда вставим скриншот дашборда.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Этапы работы. Мы начали с анализа технического задания, затем спроектировали структуру и базу данных. Дальше параллельно велись фронтенд-вёрстка и разработка бэкенда с API. Затем интеграция, тестирование адаптивности и развёртывание в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практики. Разработан рабочий корпоративный сайт из девяти разделов, CMS с управлением контентом, база знаний и клиентский портал с мониторингом. Реализованы три роли пользователей, база данных из пяти таблиц и контейнеризированное окружение. Дизайн адаптивный.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Готовы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335C">
                  <a:alpha val="100000"/>
                </a:srgbClr>
              </a:gs>
              <a:gs pos="50000">
                <a:srgbClr val="0B1628">
                  <a:alpha val="100000"/>
                </a:srgbClr>
              </a:gs>
              <a:gs pos="100000">
                <a:srgbClr val="070D18">
                  <a:alpha val="100000"/>
                </a:srgbClr>
              </a:gs>
            </a:gsLst>
            <a:path path="circle">
              <a:fillToRect l="82000" t="0" r="18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3525500" y="-171450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1976D2">
                  <a:alpha val="38000"/>
                </a:srgbClr>
              </a:gs>
              <a:gs pos="65000">
                <a:srgbClr val="1976D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1524000" y="70485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1976D2">
                  <a:alpha val="12000"/>
                </a:srgbClr>
              </a:gs>
              <a:gs pos="68000">
                <a:srgbClr val="1976D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914400" y="914400"/>
            <a:ext cx="203195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42294" y="1243013"/>
            <a:ext cx="269795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1125" spc="15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ОТЧЁТ ПО УЧЕБНОЙ ПРАКТИКЕ ТюмГУ · 2026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047750" y="2942481"/>
            <a:ext cx="14668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ВЕБ-ПРОЕКТА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47750" y="3399681"/>
            <a:ext cx="13735050" cy="252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150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сайт и информационная система </a:t>
            </a:r>
            <a:pPr algn="l" indent="0" marL="0">
              <a:lnSpc>
                <a:spcPct val="106000"/>
              </a:lnSpc>
              <a:buNone/>
            </a:pPr>
            <a:r>
              <a:rPr lang="en-US" sz="615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«МобилСервис»</a:t>
            </a:r>
            <a:endParaRPr lang="en-US" sz="6150" dirty="0"/>
          </a:p>
        </p:txBody>
      </p:sp>
      <p:sp>
        <p:nvSpPr>
          <p:cNvPr id="9" name="Text 6"/>
          <p:cNvSpPr/>
          <p:nvPr/>
        </p:nvSpPr>
        <p:spPr>
          <a:xfrm>
            <a:off x="1047750" y="6206877"/>
            <a:ext cx="902589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Проектирование, вёрстка, серверная логика и контейнеризация корпоративного веб-ресурса с CMS, базой знаний и клиентским порталом.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47750" y="7800380"/>
            <a:ext cx="16192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8133755"/>
            <a:ext cx="31195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3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РАЗРАБОТКИ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047750" y="8352830"/>
            <a:ext cx="2920998" cy="1057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Исмагилов Рифат Рустамович Шмеляк Даниил Кириллович Чекалёв Денис Евгеньевич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4811226" y="8854678"/>
            <a:ext cx="2429024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Тюменский государственный университет · 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ПРОЕКТЕ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47800"/>
            <a:ext cx="11576685" cy="123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веб-ресурс компании </a:t>
            </a:r>
            <a:pPr algn="l" indent="0" marL="0">
              <a:lnSpc>
                <a:spcPct val="112000"/>
              </a:lnSpc>
              <a:buNone/>
            </a:pPr>
            <a:r>
              <a:rPr lang="en-US" sz="4200" b="1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сфере мониторинга транспорта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137892"/>
            <a:ext cx="8731874" cy="192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17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«МобилСервис» — компания, предоставляющая услуги мониторинга транспорта, установки оборудования и сервисного обслуживания. Сайт решает сразу несколько задач: презентует компанию и её услуги, привлекает клиентов и кандидатов, а также объединяет внутренние цифровые сервисы.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914400" y="5268962"/>
            <a:ext cx="8731874" cy="791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2000"/>
              </a:lnSpc>
              <a:buNone/>
            </a:pPr>
            <a:r>
              <a:rPr lang="en-US" sz="17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охватила полный цикл — от анализа технического задания и проектирования до вёрстки, серверной логики и развёртывания в Docker.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10001548" y="3137892"/>
            <a:ext cx="7371904" cy="178593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  <a:effectLst>
            <a:outerShdw sx="100000" sy="100000" kx="0" ky="0" algn="bl" rotWithShape="0" blurRad="323850" dist="133350" dir="5400000">
              <a:srgbClr val="0F1E38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334923" y="3433167"/>
            <a:ext cx="73756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ПРАКТИКИ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0334923" y="3728442"/>
            <a:ext cx="6906308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1A2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современный адаптивный сайт, отражающий фирменный стиль и объединяющий клиентские и внутренние сервисы.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0001548" y="5095280"/>
            <a:ext cx="3600152" cy="1241971"/>
          </a:xfrm>
          <a:prstGeom prst="roundRect">
            <a:avLst>
              <a:gd name="adj" fmla="val 13805"/>
            </a:avLst>
          </a:prstGeom>
          <a:solidFill>
            <a:srgbClr val="0F1E38"/>
          </a:solidFill>
          <a:ln/>
        </p:spPr>
      </p:sp>
      <p:sp>
        <p:nvSpPr>
          <p:cNvPr id="12" name="Text 10"/>
          <p:cNvSpPr/>
          <p:nvPr/>
        </p:nvSpPr>
        <p:spPr>
          <a:xfrm>
            <a:off x="10268248" y="5342930"/>
            <a:ext cx="33734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0268248" y="5876330"/>
            <a:ext cx="337342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разделов и страниц сайта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73150" y="5095280"/>
            <a:ext cx="3600301" cy="1241971"/>
          </a:xfrm>
          <a:prstGeom prst="roundRect">
            <a:avLst>
              <a:gd name="adj" fmla="val 13805"/>
            </a:avLst>
          </a:prstGeom>
          <a:solidFill>
            <a:srgbClr val="1976D2"/>
          </a:solidFill>
          <a:ln/>
        </p:spPr>
      </p:sp>
      <p:sp>
        <p:nvSpPr>
          <p:cNvPr id="15" name="Text 13"/>
          <p:cNvSpPr/>
          <p:nvPr/>
        </p:nvSpPr>
        <p:spPr>
          <a:xfrm>
            <a:off x="14039850" y="5342930"/>
            <a:ext cx="337359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4039850" y="5876330"/>
            <a:ext cx="3373591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технических задания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ПРЕДПОСЫЛКИ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8021"/>
            <a:ext cx="981021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раньше — </a:t>
            </a:r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старый сайт на Tilda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914400" y="2483346"/>
            <a:ext cx="918592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Одностраничный лендинг-лонгрид, собранный на конструкторе. Морально и технически устарел.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340596"/>
            <a:ext cx="8918377" cy="5463034"/>
          </a:xfrm>
          <a:prstGeom prst="roundRect">
            <a:avLst>
              <a:gd name="adj" fmla="val 313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666750" dist="323850" dir="5400000">
              <a:srgbClr val="080F1C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23925" y="3350121"/>
            <a:ext cx="8899327" cy="43815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9" name="Shape 7"/>
          <p:cNvSpPr/>
          <p:nvPr/>
        </p:nvSpPr>
        <p:spPr>
          <a:xfrm>
            <a:off x="1114425" y="3507284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1323975" y="3507284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1533525" y="3507284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Shape 10"/>
          <p:cNvSpPr/>
          <p:nvPr/>
        </p:nvSpPr>
        <p:spPr>
          <a:xfrm>
            <a:off x="1876425" y="3450134"/>
            <a:ext cx="4000500" cy="238125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28825" y="3450134"/>
            <a:ext cx="381571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старый сайт · *.tilda.ws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923925" y="3788271"/>
            <a:ext cx="8899327" cy="5005834"/>
          </a:xfrm>
          <a:prstGeom prst="rect">
            <a:avLst/>
          </a:prstGeom>
          <a:solidFill>
            <a:srgbClr val="EEF2F7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6413" y="5867251"/>
            <a:ext cx="514350" cy="5143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262884" y="6514951"/>
            <a:ext cx="24433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5" kern="0" dirty="0">
                <a:solidFill>
                  <a:srgbClr val="8295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СКРИНШОТ · Старый сайт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366177" y="3183434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FDECEC"/>
          </a:solidFill>
          <a:ln/>
        </p:spPr>
      </p:sp>
      <p:sp>
        <p:nvSpPr>
          <p:cNvPr id="18" name="Text 15"/>
          <p:cNvSpPr/>
          <p:nvPr/>
        </p:nvSpPr>
        <p:spPr>
          <a:xfrm>
            <a:off x="10328077" y="318343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756702" y="3221534"/>
            <a:ext cx="19252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недостатки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10366177" y="3659684"/>
            <a:ext cx="7007423" cy="844302"/>
          </a:xfrm>
          <a:prstGeom prst="roundRect">
            <a:avLst>
              <a:gd name="adj" fmla="val 13538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10366177" y="4494461"/>
            <a:ext cx="7007423" cy="9525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22" name="Shape 19"/>
          <p:cNvSpPr/>
          <p:nvPr/>
        </p:nvSpPr>
        <p:spPr>
          <a:xfrm>
            <a:off x="10366177" y="3659684"/>
            <a:ext cx="7007423" cy="9525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23" name="Shape 20"/>
          <p:cNvSpPr/>
          <p:nvPr/>
        </p:nvSpPr>
        <p:spPr>
          <a:xfrm>
            <a:off x="10366177" y="3659684"/>
            <a:ext cx="38100" cy="84430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4" name="Shape 21"/>
          <p:cNvSpPr/>
          <p:nvPr/>
        </p:nvSpPr>
        <p:spPr>
          <a:xfrm>
            <a:off x="17364075" y="3659684"/>
            <a:ext cx="9525" cy="844302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25" name="Text 22"/>
          <p:cNvSpPr/>
          <p:nvPr/>
        </p:nvSpPr>
        <p:spPr>
          <a:xfrm>
            <a:off x="10613827" y="3840659"/>
            <a:ext cx="71947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Устаревший дизайн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613827" y="4088309"/>
            <a:ext cx="719476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Шаблонный внешний вид, не отражает уровень компании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10366177" y="4627811"/>
            <a:ext cx="7007423" cy="844302"/>
          </a:xfrm>
          <a:prstGeom prst="roundRect">
            <a:avLst>
              <a:gd name="adj" fmla="val 13538"/>
            </a:avLst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10366177" y="5462588"/>
            <a:ext cx="7007423" cy="9525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29" name="Shape 26"/>
          <p:cNvSpPr/>
          <p:nvPr/>
        </p:nvSpPr>
        <p:spPr>
          <a:xfrm>
            <a:off x="10366177" y="4627811"/>
            <a:ext cx="7007423" cy="9525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30" name="Shape 27"/>
          <p:cNvSpPr/>
          <p:nvPr/>
        </p:nvSpPr>
        <p:spPr>
          <a:xfrm>
            <a:off x="10366177" y="4627811"/>
            <a:ext cx="38100" cy="84430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1" name="Shape 28"/>
          <p:cNvSpPr/>
          <p:nvPr/>
        </p:nvSpPr>
        <p:spPr>
          <a:xfrm>
            <a:off x="17364075" y="4627811"/>
            <a:ext cx="9525" cy="844302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32" name="Text 29"/>
          <p:cNvSpPr/>
          <p:nvPr/>
        </p:nvSpPr>
        <p:spPr>
          <a:xfrm>
            <a:off x="10613827" y="4808786"/>
            <a:ext cx="71947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длинный лонгрид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613827" y="5056436"/>
            <a:ext cx="719476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информация на одной странице, без структуры и разделов</a:t>
            </a:r>
            <a:endParaRPr lang="en-US" sz="1275" dirty="0"/>
          </a:p>
        </p:txBody>
      </p:sp>
      <p:sp>
        <p:nvSpPr>
          <p:cNvPr id="34" name="Shape 31"/>
          <p:cNvSpPr/>
          <p:nvPr/>
        </p:nvSpPr>
        <p:spPr>
          <a:xfrm>
            <a:off x="10366177" y="5595938"/>
            <a:ext cx="7007423" cy="844302"/>
          </a:xfrm>
          <a:prstGeom prst="roundRect">
            <a:avLst>
              <a:gd name="adj" fmla="val 13538"/>
            </a:avLst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10366177" y="6430714"/>
            <a:ext cx="7007423" cy="9525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36" name="Shape 33"/>
          <p:cNvSpPr/>
          <p:nvPr/>
        </p:nvSpPr>
        <p:spPr>
          <a:xfrm>
            <a:off x="10366177" y="5595938"/>
            <a:ext cx="7007423" cy="9525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37" name="Shape 34"/>
          <p:cNvSpPr/>
          <p:nvPr/>
        </p:nvSpPr>
        <p:spPr>
          <a:xfrm>
            <a:off x="10366177" y="5595938"/>
            <a:ext cx="38100" cy="84430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8" name="Shape 35"/>
          <p:cNvSpPr/>
          <p:nvPr/>
        </p:nvSpPr>
        <p:spPr>
          <a:xfrm>
            <a:off x="17364075" y="5595938"/>
            <a:ext cx="9525" cy="844302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39" name="Text 36"/>
          <p:cNvSpPr/>
          <p:nvPr/>
        </p:nvSpPr>
        <p:spPr>
          <a:xfrm>
            <a:off x="10613827" y="5776913"/>
            <a:ext cx="71947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Конструктор Tilda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0613827" y="6024563"/>
            <a:ext cx="719476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Зависимость от платформы, нет своей логики и базы данных</a:t>
            </a:r>
            <a:endParaRPr lang="en-US" sz="1275" dirty="0"/>
          </a:p>
        </p:txBody>
      </p:sp>
      <p:sp>
        <p:nvSpPr>
          <p:cNvPr id="41" name="Shape 38"/>
          <p:cNvSpPr/>
          <p:nvPr/>
        </p:nvSpPr>
        <p:spPr>
          <a:xfrm>
            <a:off x="10366177" y="6564064"/>
            <a:ext cx="7007423" cy="844302"/>
          </a:xfrm>
          <a:prstGeom prst="roundRect">
            <a:avLst>
              <a:gd name="adj" fmla="val 13538"/>
            </a:avLst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10366177" y="7398841"/>
            <a:ext cx="7007423" cy="9525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43" name="Shape 40"/>
          <p:cNvSpPr/>
          <p:nvPr/>
        </p:nvSpPr>
        <p:spPr>
          <a:xfrm>
            <a:off x="10366177" y="6564064"/>
            <a:ext cx="7007423" cy="9525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44" name="Shape 41"/>
          <p:cNvSpPr/>
          <p:nvPr/>
        </p:nvSpPr>
        <p:spPr>
          <a:xfrm>
            <a:off x="10366177" y="6564064"/>
            <a:ext cx="38100" cy="84430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5" name="Shape 42"/>
          <p:cNvSpPr/>
          <p:nvPr/>
        </p:nvSpPr>
        <p:spPr>
          <a:xfrm>
            <a:off x="17364075" y="6564064"/>
            <a:ext cx="9525" cy="844302"/>
          </a:xfrm>
          <a:prstGeom prst="rect">
            <a:avLst/>
          </a:prstGeom>
          <a:solidFill>
            <a:srgbClr val="F0D9D9"/>
          </a:solidFill>
          <a:ln/>
        </p:spPr>
      </p:sp>
      <p:sp>
        <p:nvSpPr>
          <p:cNvPr id="46" name="Text 43"/>
          <p:cNvSpPr/>
          <p:nvPr/>
        </p:nvSpPr>
        <p:spPr>
          <a:xfrm>
            <a:off x="10613827" y="6745039"/>
            <a:ext cx="71947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личного кабинета и CMS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10613827" y="6992689"/>
            <a:ext cx="7194768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Невозможно управлять контентом и подключить сервисы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ПРАКТИКИ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47800"/>
            <a:ext cx="1810512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технических задания </a:t>
            </a:r>
            <a:pPr algn="l" indent="0" marL="0">
              <a:lnSpc>
                <a:spcPct val="112000"/>
              </a:lnSpc>
              <a:buNone/>
            </a:pPr>
            <a:r>
              <a:rPr lang="en-US" sz="4200" b="1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один продукт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2559546"/>
            <a:ext cx="5321201" cy="2601664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  <a:effectLst>
            <a:outerShdw sx="100000" sy="100000" kx="0" ky="0" algn="bl" rotWithShape="0" blurRad="381000" dist="171450" dir="5400000">
              <a:srgbClr val="0F1E38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83187" y="2397621"/>
            <a:ext cx="139858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F0F4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266825" y="2950071"/>
            <a:ext cx="4754841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сайт + CMS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266825" y="3821609"/>
            <a:ext cx="66675" cy="66675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0" name="Text 8"/>
          <p:cNvSpPr/>
          <p:nvPr/>
        </p:nvSpPr>
        <p:spPr>
          <a:xfrm>
            <a:off x="1476375" y="3754934"/>
            <a:ext cx="28503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компании и услуг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266825" y="4207818"/>
            <a:ext cx="66675" cy="66675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1476375" y="4141143"/>
            <a:ext cx="34454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новостями и вакансиями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266825" y="4594027"/>
            <a:ext cx="66675" cy="66675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4" name="Text 12"/>
          <p:cNvSpPr/>
          <p:nvPr/>
        </p:nvSpPr>
        <p:spPr>
          <a:xfrm>
            <a:off x="1476375" y="4527352"/>
            <a:ext cx="26282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 обратной связи, SEO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6483251" y="2559546"/>
            <a:ext cx="5321350" cy="2601664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  <a:effectLst>
            <a:outerShdw sx="100000" sy="100000" kx="0" ky="0" algn="bl" rotWithShape="0" blurRad="381000" dist="171450" dir="5400000">
              <a:srgbClr val="0F1E38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352187" y="2397621"/>
            <a:ext cx="139858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F0F4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17" name="Text 15"/>
          <p:cNvSpPr/>
          <p:nvPr/>
        </p:nvSpPr>
        <p:spPr>
          <a:xfrm>
            <a:off x="6835676" y="2950071"/>
            <a:ext cx="4754995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 и документация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835676" y="3821609"/>
            <a:ext cx="66675" cy="66675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9" name="Text 17"/>
          <p:cNvSpPr/>
          <p:nvPr/>
        </p:nvSpPr>
        <p:spPr>
          <a:xfrm>
            <a:off x="7045226" y="3754934"/>
            <a:ext cx="27931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 и поиск документов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6835676" y="4207818"/>
            <a:ext cx="66675" cy="66675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1" name="Text 19"/>
          <p:cNvSpPr/>
          <p:nvPr/>
        </p:nvSpPr>
        <p:spPr>
          <a:xfrm>
            <a:off x="7045226" y="4141143"/>
            <a:ext cx="2739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Регламенты, инструкции, FAQ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6835676" y="4594027"/>
            <a:ext cx="66675" cy="66675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3" name="Text 21"/>
          <p:cNvSpPr/>
          <p:nvPr/>
        </p:nvSpPr>
        <p:spPr>
          <a:xfrm>
            <a:off x="7045226" y="4527352"/>
            <a:ext cx="2664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Разграничение прав доступа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2052250" y="2559546"/>
            <a:ext cx="5321350" cy="2601664"/>
          </a:xfrm>
          <a:prstGeom prst="roundRect">
            <a:avLst>
              <a:gd name="adj" fmla="val 8054"/>
            </a:avLst>
          </a:prstGeom>
          <a:solidFill>
            <a:srgbClr val="0F1E38"/>
          </a:solidFill>
          <a:ln/>
          <a:effectLst>
            <a:outerShdw sx="100000" sy="100000" kx="0" ky="0" algn="bl" rotWithShape="0" blurRad="381000" dist="171450" dir="5400000">
              <a:srgbClr val="0F1E38">
                <a:alpha val="6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930711" y="2388096"/>
            <a:ext cx="139858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26" name="Text 24"/>
          <p:cNvSpPr/>
          <p:nvPr/>
        </p:nvSpPr>
        <p:spPr>
          <a:xfrm>
            <a:off x="12395150" y="2940546"/>
            <a:ext cx="4774616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Клиентский портал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транспорта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2395150" y="3812084"/>
            <a:ext cx="66675" cy="66675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604700" y="3745409"/>
            <a:ext cx="217050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 и роли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2395150" y="4198293"/>
            <a:ext cx="66675" cy="66675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30" name="Text 28"/>
          <p:cNvSpPr/>
          <p:nvPr/>
        </p:nvSpPr>
        <p:spPr>
          <a:xfrm>
            <a:off x="12604700" y="4131618"/>
            <a:ext cx="398285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 перевозок в реальном времени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2395150" y="4584502"/>
            <a:ext cx="66675" cy="66675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604700" y="4517827"/>
            <a:ext cx="21261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и уведомления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335C">
                  <a:alpha val="100000"/>
                </a:srgbClr>
              </a:gs>
              <a:gs pos="52000">
                <a:srgbClr val="0B1628">
                  <a:alpha val="100000"/>
                </a:srgbClr>
              </a:gs>
              <a:gs pos="100000">
                <a:srgbClr val="070D18">
                  <a:alpha val="100000"/>
                </a:srgbClr>
              </a:gs>
            </a:gsLst>
            <a:path path="circle">
              <a:fillToRect l="85000" t="0" r="15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14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47800"/>
            <a:ext cx="1810512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разработки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2521446"/>
            <a:ext cx="3957638" cy="1530102"/>
          </a:xfrm>
          <a:prstGeom prst="roundRect">
            <a:avLst>
              <a:gd name="adj" fmla="val 112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9675" y="2816721"/>
            <a:ext cx="370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09675" y="3121521"/>
            <a:ext cx="370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9675" y="3521571"/>
            <a:ext cx="370379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Серверная логика и REST API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5081588" y="2521446"/>
            <a:ext cx="3957638" cy="1530102"/>
          </a:xfrm>
          <a:prstGeom prst="roundRect">
            <a:avLst>
              <a:gd name="adj" fmla="val 112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863" y="2816721"/>
            <a:ext cx="370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76863" y="3121521"/>
            <a:ext cx="370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376863" y="3521571"/>
            <a:ext cx="370379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Реляционная БД, 5 таблиц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248775" y="2521446"/>
            <a:ext cx="3957638" cy="1530102"/>
          </a:xfrm>
          <a:prstGeom prst="roundRect">
            <a:avLst>
              <a:gd name="adj" fmla="val 112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44050" y="2816721"/>
            <a:ext cx="370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44050" y="3121521"/>
            <a:ext cx="370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44050" y="3521571"/>
            <a:ext cx="370379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Токены и роли доступа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3415963" y="2521446"/>
            <a:ext cx="3957638" cy="1530102"/>
          </a:xfrm>
          <a:prstGeom prst="roundRect">
            <a:avLst>
              <a:gd name="adj" fmla="val 112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1238" y="2816721"/>
            <a:ext cx="370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711238" y="3121521"/>
            <a:ext cx="370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· CSS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11238" y="3521571"/>
            <a:ext cx="370379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Нативная вёрстка, без фреймворков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14400" y="4261098"/>
            <a:ext cx="3957638" cy="1530102"/>
          </a:xfrm>
          <a:prstGeom prst="roundRect">
            <a:avLst>
              <a:gd name="adj" fmla="val 112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9675" y="4556373"/>
            <a:ext cx="370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09675" y="4861173"/>
            <a:ext cx="370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09675" y="5261223"/>
            <a:ext cx="370379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Раздача статики фронтенда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5081588" y="4261098"/>
            <a:ext cx="3957638" cy="1530102"/>
          </a:xfrm>
          <a:prstGeom prst="roundRect">
            <a:avLst>
              <a:gd name="adj" fmla="val 112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863" y="4556373"/>
            <a:ext cx="370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76863" y="4861173"/>
            <a:ext cx="370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376863" y="5261223"/>
            <a:ext cx="370379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Compose, 3 контейнера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9248775" y="4261098"/>
            <a:ext cx="3957638" cy="1530102"/>
          </a:xfrm>
          <a:prstGeom prst="roundRect">
            <a:avLst>
              <a:gd name="adj" fmla="val 112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44050" y="4556373"/>
            <a:ext cx="370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44050" y="4861173"/>
            <a:ext cx="370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544050" y="5261223"/>
            <a:ext cx="370379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Зависимости PHP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13415963" y="4261098"/>
            <a:ext cx="3957638" cy="1530102"/>
          </a:xfrm>
          <a:prstGeom prst="roundRect">
            <a:avLst>
              <a:gd name="adj" fmla="val 112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1238" y="4556373"/>
            <a:ext cx="370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3711238" y="4861173"/>
            <a:ext cx="3703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3711238" y="5261223"/>
            <a:ext cx="3703796" cy="272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разработка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47800"/>
            <a:ext cx="1810512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устроена система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2654796"/>
            <a:ext cx="2381250" cy="1908721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  <a:effectLst>
            <a:outerShdw sx="100000" sy="100000" kx="0" ky="0" algn="bl" rotWithShape="0" blurRad="381000" dist="171450" dir="5400000">
              <a:srgbClr val="0F1E38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9185" y="3036243"/>
            <a:ext cx="20116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9185" y="3321993"/>
            <a:ext cx="20116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52525" y="3712518"/>
            <a:ext cx="1905000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ПК · планшет · смартфон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3257550" y="2654796"/>
            <a:ext cx="609600" cy="1946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829050" y="2654796"/>
            <a:ext cx="13544550" cy="1908721"/>
          </a:xfrm>
          <a:prstGeom prst="roundRect">
            <a:avLst>
              <a:gd name="adj" fmla="val 11977"/>
            </a:avLst>
          </a:prstGeom>
          <a:solidFill>
            <a:srgbClr val="1976D2">
              <a:alpha val="3000"/>
            </a:srgbClr>
          </a:solidFill>
          <a:ln w="19050">
            <a:solidFill>
              <a:srgbClr val="B9C6D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114800" y="2521446"/>
            <a:ext cx="2863304" cy="17145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248150" y="2521446"/>
            <a:ext cx="28829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75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· 3 КОНТЕЙНЕРА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95750" y="2921496"/>
            <a:ext cx="4038600" cy="1413421"/>
          </a:xfrm>
          <a:prstGeom prst="roundRect">
            <a:avLst>
              <a:gd name="adj" fmla="val 12130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6713" y="3216771"/>
            <a:ext cx="3876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176713" y="3473946"/>
            <a:ext cx="38766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76713" y="3826371"/>
            <a:ext cx="3876675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6250" y="2921496"/>
            <a:ext cx="533400" cy="1451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8591550" y="2921496"/>
            <a:ext cx="4019550" cy="1413421"/>
          </a:xfrm>
          <a:prstGeom prst="roundRect">
            <a:avLst>
              <a:gd name="adj" fmla="val 12130"/>
            </a:avLst>
          </a:prstGeom>
          <a:solidFill>
            <a:srgbClr val="0F1E38"/>
          </a:solidFill>
          <a:ln/>
        </p:spPr>
      </p:sp>
      <p:sp>
        <p:nvSpPr>
          <p:cNvPr id="20" name="Text 18"/>
          <p:cNvSpPr/>
          <p:nvPr/>
        </p:nvSpPr>
        <p:spPr>
          <a:xfrm>
            <a:off x="8662987" y="3216771"/>
            <a:ext cx="3876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75" kern="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662987" y="3473946"/>
            <a:ext cx="38766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· REST API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62987" y="3826371"/>
            <a:ext cx="3876675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JWT-авторизация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73000" y="2921496"/>
            <a:ext cx="533400" cy="1451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3068300" y="2921496"/>
            <a:ext cx="4038600" cy="1413421"/>
          </a:xfrm>
          <a:prstGeom prst="roundRect">
            <a:avLst>
              <a:gd name="adj" fmla="val 12130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149262" y="3216771"/>
            <a:ext cx="3876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3149262" y="3473946"/>
            <a:ext cx="38766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149262" y="3826371"/>
            <a:ext cx="3876675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· users · pages…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001667"/>
            <a:ext cx="5359301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90625" y="5239792"/>
            <a:ext cx="49676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фронта и API </a:t>
            </a:r>
            <a:pPr algn="l" indent="0" marL="0">
              <a:buNone/>
            </a:pPr>
            <a:r>
              <a:rPr lang="en-US" sz="142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независимая разработка и масштабирование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64201" y="5001667"/>
            <a:ext cx="53594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0426" y="5239792"/>
            <a:ext cx="496778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и роли</a:t>
            </a:r>
            <a:pPr algn="l" indent="0" marL="0">
              <a:buNone/>
            </a:pPr>
            <a:r>
              <a:rPr lang="en-US" sz="142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admin · employee · client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2014150" y="5001667"/>
            <a:ext cx="535945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90375" y="5239792"/>
            <a:ext cx="496778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одной командой</a:t>
            </a:r>
            <a:pPr algn="l" indent="0" marL="0">
              <a:buNone/>
            </a:pPr>
            <a:r>
              <a:rPr lang="en-US" sz="142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docker compose up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47800"/>
            <a:ext cx="1810512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разделов </a:t>
            </a:r>
            <a:pPr algn="l" indent="0" marL="0">
              <a:lnSpc>
                <a:spcPct val="112000"/>
              </a:lnSpc>
              <a:buNone/>
            </a:pPr>
            <a:r>
              <a:rPr lang="en-US" sz="4200" b="1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уровням доступа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2521446"/>
            <a:ext cx="5321201" cy="4676775"/>
          </a:xfrm>
          <a:prstGeom prst="roundRect">
            <a:avLst>
              <a:gd name="adj" fmla="val 4481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  <a:effectLst>
            <a:outerShdw sx="100000" sy="100000" kx="0" ky="0" algn="bl" rotWithShape="0" blurRad="381000" dist="171450" dir="5400000">
              <a:srgbClr val="0F1E38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47775" y="2940546"/>
            <a:ext cx="114300" cy="1143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8" name="Text 6"/>
          <p:cNvSpPr/>
          <p:nvPr/>
        </p:nvSpPr>
        <p:spPr>
          <a:xfrm>
            <a:off x="1476375" y="2873871"/>
            <a:ext cx="18221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Публичная часть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247775" y="3350121"/>
            <a:ext cx="4654451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1419225" y="3492996"/>
            <a:ext cx="44511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247775" y="3950196"/>
            <a:ext cx="4654451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1419225" y="4093071"/>
            <a:ext cx="44511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компании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247775" y="4550271"/>
            <a:ext cx="4654451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1419225" y="4693146"/>
            <a:ext cx="44511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 и продукты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247775" y="5150346"/>
            <a:ext cx="4654451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1419225" y="5293221"/>
            <a:ext cx="44511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и статьи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247775" y="5750421"/>
            <a:ext cx="4654451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1419225" y="5893296"/>
            <a:ext cx="44511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Карьера и вакансии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247775" y="6350496"/>
            <a:ext cx="4654451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1419225" y="6493371"/>
            <a:ext cx="44511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Контакты и обратная связь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6483251" y="2521446"/>
            <a:ext cx="5321350" cy="4676775"/>
          </a:xfrm>
          <a:prstGeom prst="roundRect">
            <a:avLst>
              <a:gd name="adj" fmla="val 4481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  <a:effectLst>
            <a:outerShdw sx="100000" sy="100000" kx="0" ky="0" algn="bl" rotWithShape="0" blurRad="381000" dist="171450" dir="5400000">
              <a:srgbClr val="0F1E38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6626" y="2940546"/>
            <a:ext cx="114300" cy="1143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3" name="Text 21"/>
          <p:cNvSpPr/>
          <p:nvPr/>
        </p:nvSpPr>
        <p:spPr>
          <a:xfrm>
            <a:off x="7045226" y="2873871"/>
            <a:ext cx="17341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816626" y="3350121"/>
            <a:ext cx="4654600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6988076" y="3492996"/>
            <a:ext cx="44513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Авторизация · роли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6816626" y="3950196"/>
            <a:ext cx="4654600" cy="495300"/>
          </a:xfrm>
          <a:prstGeom prst="roundRect">
            <a:avLst>
              <a:gd name="adj" fmla="val 21154"/>
            </a:avLst>
          </a:prstGeom>
          <a:solidFill>
            <a:srgbClr val="EAF2FC"/>
          </a:solidFill>
          <a:ln/>
        </p:spPr>
      </p:sp>
      <p:sp>
        <p:nvSpPr>
          <p:cNvPr id="27" name="Text 25"/>
          <p:cNvSpPr/>
          <p:nvPr/>
        </p:nvSpPr>
        <p:spPr>
          <a:xfrm>
            <a:off x="6988076" y="4093071"/>
            <a:ext cx="44513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мониторинга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6816626" y="4550271"/>
            <a:ext cx="4654600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6988076" y="4693146"/>
            <a:ext cx="44513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клиента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6816626" y="5150346"/>
            <a:ext cx="4654600" cy="495300"/>
          </a:xfrm>
          <a:prstGeom prst="roundRect">
            <a:avLst>
              <a:gd name="adj" fmla="val 21154"/>
            </a:avLst>
          </a:prstGeom>
          <a:solidFill>
            <a:srgbClr val="F4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6988076" y="5293221"/>
            <a:ext cx="44513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6816626" y="5817096"/>
            <a:ext cx="51200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Перевозки, статусы, карта и отчёты в реальном времени.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2052250" y="2521446"/>
            <a:ext cx="5321350" cy="4676775"/>
          </a:xfrm>
          <a:prstGeom prst="roundRect">
            <a:avLst>
              <a:gd name="adj" fmla="val 4481"/>
            </a:avLst>
          </a:prstGeom>
          <a:solidFill>
            <a:srgbClr val="0F1E38"/>
          </a:solidFill>
          <a:ln/>
          <a:effectLst>
            <a:outerShdw sx="100000" sy="100000" kx="0" ky="0" algn="bl" rotWithShape="0" blurRad="381000" dist="171450" dir="5400000">
              <a:srgbClr val="0F1E38">
                <a:alpha val="6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2376100" y="2931021"/>
            <a:ext cx="114300" cy="114300"/>
          </a:xfrm>
          <a:prstGeom prst="ellipse">
            <a:avLst/>
          </a:prstGeom>
          <a:solidFill>
            <a:srgbClr val="4A9E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604700" y="2864346"/>
            <a:ext cx="18039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сотрудников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2376100" y="3340596"/>
            <a:ext cx="4673650" cy="495300"/>
          </a:xfrm>
          <a:prstGeom prst="roundRect">
            <a:avLst>
              <a:gd name="adj" fmla="val 21154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547550" y="3483471"/>
            <a:ext cx="44709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· Админ-панель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2376100" y="3940671"/>
            <a:ext cx="4673650" cy="495300"/>
          </a:xfrm>
          <a:prstGeom prst="roundRect">
            <a:avLst>
              <a:gd name="adj" fmla="val 21154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547550" y="4083546"/>
            <a:ext cx="44709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новостями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12376100" y="4540746"/>
            <a:ext cx="4673650" cy="495300"/>
          </a:xfrm>
          <a:prstGeom prst="roundRect">
            <a:avLst>
              <a:gd name="adj" fmla="val 21154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2547550" y="4683621"/>
            <a:ext cx="44709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вакансиями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12376100" y="5140821"/>
            <a:ext cx="4673650" cy="495300"/>
          </a:xfrm>
          <a:prstGeom prst="roundRect">
            <a:avLst>
              <a:gd name="adj" fmla="val 21154"/>
            </a:avLst>
          </a:prstGeom>
          <a:solidFill>
            <a:srgbClr val="4A9EFF">
              <a:alpha val="16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2547550" y="5283696"/>
            <a:ext cx="44709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7B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12376100" y="5740896"/>
            <a:ext cx="4673650" cy="495300"/>
          </a:xfrm>
          <a:prstGeom prst="roundRect">
            <a:avLst>
              <a:gd name="adj" fmla="val 21154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547550" y="5883771"/>
            <a:ext cx="44709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и роли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· 01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311426"/>
            <a:ext cx="6709327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сайт </a:t>
            </a:r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главная страница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914400" y="4587776"/>
            <a:ext cx="6709327" cy="698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Лицо компании: полноэкранный hero-слайдер, презентация услуг и доверие с первого экрана.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914400" y="555248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AF2FC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555248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28750" y="5552480"/>
            <a:ext cx="37442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Hero-слайдер и блоки услуг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28750" y="5800130"/>
            <a:ext cx="3744233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Анимированная подача, фирменный стиль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914400" y="617919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A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617919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28750" y="6179195"/>
            <a:ext cx="27156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и статистика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28750" y="6426845"/>
            <a:ext cx="271563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Динамические данные из CMS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914400" y="680591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AF2FC"/>
          </a:solidFill>
          <a:ln/>
        </p:spPr>
      </p:sp>
      <p:sp>
        <p:nvSpPr>
          <p:cNvPr id="16" name="Text 14"/>
          <p:cNvSpPr/>
          <p:nvPr/>
        </p:nvSpPr>
        <p:spPr>
          <a:xfrm>
            <a:off x="876300" y="680591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8750" y="6805910"/>
            <a:ext cx="219847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Адаптивная вёрстка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8750" y="7053560"/>
            <a:ext cx="2198474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ПК, планшет, мобильный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7999809" y="2426791"/>
            <a:ext cx="9373642" cy="5738068"/>
          </a:xfrm>
          <a:prstGeom prst="roundRect">
            <a:avLst>
              <a:gd name="adj" fmla="val 298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666750" dist="323850" dir="5400000">
              <a:srgbClr val="080F1C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9334" y="2436316"/>
            <a:ext cx="9354592" cy="45720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99834" y="2603004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9384" y="2603004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8618934" y="2603004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961834" y="2541091"/>
            <a:ext cx="4191000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14234" y="2541091"/>
            <a:ext cx="40119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mobilservice.ru / index.html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8009334" y="2893516"/>
            <a:ext cx="9354592" cy="5261818"/>
          </a:xfrm>
          <a:prstGeom prst="rect">
            <a:avLst/>
          </a:prstGeom>
          <a:solidFill>
            <a:srgbClr val="EEF2F7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10331" y="5067151"/>
            <a:ext cx="552450" cy="55245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246346" y="5772001"/>
            <a:ext cx="31684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5" kern="0" dirty="0">
                <a:solidFill>
                  <a:srgbClr val="8295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СКРИНШОТ · Главная страница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· 02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6791"/>
            <a:ext cx="9373642" cy="5738068"/>
          </a:xfrm>
          <a:prstGeom prst="roundRect">
            <a:avLst>
              <a:gd name="adj" fmla="val 298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666750" dist="323850" dir="5400000">
              <a:srgbClr val="080F1C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925" y="2436316"/>
            <a:ext cx="9354592" cy="45720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7" name="Shape 5"/>
          <p:cNvSpPr/>
          <p:nvPr/>
        </p:nvSpPr>
        <p:spPr>
          <a:xfrm>
            <a:off x="1114425" y="2603004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323975" y="2603004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533525" y="2603004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8"/>
          <p:cNvSpPr/>
          <p:nvPr/>
        </p:nvSpPr>
        <p:spPr>
          <a:xfrm>
            <a:off x="1876425" y="2541091"/>
            <a:ext cx="4191000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028825" y="2541091"/>
            <a:ext cx="40119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mobilservice.ru / admin.html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923925" y="2893516"/>
            <a:ext cx="9354592" cy="5261818"/>
          </a:xfrm>
          <a:prstGeom prst="rect">
            <a:avLst/>
          </a:prstGeom>
          <a:solidFill>
            <a:srgbClr val="EEF2F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4921" y="5067151"/>
            <a:ext cx="552450" cy="552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74356" y="5772001"/>
            <a:ext cx="26991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5" kern="0" dirty="0">
                <a:solidFill>
                  <a:srgbClr val="8295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СКРИНШОТ · Админ-панель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10859542" y="3470523"/>
            <a:ext cx="7165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</a:t>
            </a:r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админ-панель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10859542" y="4222998"/>
            <a:ext cx="6709327" cy="698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сами управляют контентом без правки кода. Доступ — только у роли admin.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0859542" y="5168652"/>
            <a:ext cx="1063823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8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59567" y="5282952"/>
            <a:ext cx="7399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2028140" y="5168652"/>
            <a:ext cx="1155948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8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28165" y="5282952"/>
            <a:ext cx="8320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3288863" y="5168652"/>
            <a:ext cx="1205061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8F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488888" y="5282952"/>
            <a:ext cx="8812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Страницы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4598700" y="5168652"/>
            <a:ext cx="927646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8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798725" y="5282952"/>
            <a:ext cx="6037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5631120" y="5168652"/>
            <a:ext cx="1519089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E8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831145" y="5282952"/>
            <a:ext cx="11952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859542" y="5883027"/>
            <a:ext cx="6513909" cy="1238250"/>
          </a:xfrm>
          <a:prstGeom prst="roundRect">
            <a:avLst>
              <a:gd name="adj" fmla="val 12308"/>
            </a:avLst>
          </a:prstGeom>
          <a:solidFill>
            <a:srgbClr val="0F1E38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6242" y="6111627"/>
            <a:ext cx="65785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Публикация в один клик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11126242" y="6378327"/>
            <a:ext cx="61599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Черновики, флаги «опубликовано» и «избранное», счётчик просмотров.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· 03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51448"/>
            <a:ext cx="7165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 </a:t>
            </a:r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документация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914400" y="4003923"/>
            <a:ext cx="6709327" cy="698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Единое хранилище корпоративных документов с поиском и разграничением доступа.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914400" y="4949577"/>
            <a:ext cx="3195042" cy="57150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4425" y="5130552"/>
            <a:ext cx="28908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Регламенты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4233267" y="4949577"/>
            <a:ext cx="3195042" cy="57150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3292" y="5130552"/>
            <a:ext cx="28908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Инструкции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14400" y="5644902"/>
            <a:ext cx="3195042" cy="57150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4425" y="5825877"/>
            <a:ext cx="28908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Политики компании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4233267" y="5644902"/>
            <a:ext cx="3195042" cy="57150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3292" y="5825877"/>
            <a:ext cx="28908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Шаблоны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14400" y="6340227"/>
            <a:ext cx="3195042" cy="57150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4425" y="6521202"/>
            <a:ext cx="28908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сотрудников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4233267" y="6340227"/>
            <a:ext cx="3195042" cy="57150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3292" y="6521202"/>
            <a:ext cx="28908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14400" y="7140327"/>
            <a:ext cx="20436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 содержимому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05571" y="7140327"/>
            <a:ext cx="1201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3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82826" y="7140327"/>
            <a:ext cx="18712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Версии и публикация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99809" y="2426791"/>
            <a:ext cx="9373642" cy="5738068"/>
          </a:xfrm>
          <a:prstGeom prst="roundRect">
            <a:avLst>
              <a:gd name="adj" fmla="val 298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666750" dist="323850" dir="5400000">
              <a:srgbClr val="080F1C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09334" y="2436316"/>
            <a:ext cx="9354592" cy="45720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24" name="Shape 22"/>
          <p:cNvSpPr/>
          <p:nvPr/>
        </p:nvSpPr>
        <p:spPr>
          <a:xfrm>
            <a:off x="8199834" y="2603004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3"/>
          <p:cNvSpPr/>
          <p:nvPr/>
        </p:nvSpPr>
        <p:spPr>
          <a:xfrm>
            <a:off x="8409384" y="2603004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4"/>
          <p:cNvSpPr/>
          <p:nvPr/>
        </p:nvSpPr>
        <p:spPr>
          <a:xfrm>
            <a:off x="8618934" y="2603004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834" y="2541091"/>
            <a:ext cx="4191000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14234" y="2541091"/>
            <a:ext cx="40119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mobilservice.ru / knowledge.html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8009334" y="2893516"/>
            <a:ext cx="9354592" cy="5261818"/>
          </a:xfrm>
          <a:prstGeom prst="rect">
            <a:avLst/>
          </a:prstGeom>
          <a:solidFill>
            <a:srgbClr val="EEF2F7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10331" y="5067151"/>
            <a:ext cx="552450" cy="55245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513046" y="5772001"/>
            <a:ext cx="25817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5" kern="0" dirty="0">
                <a:solidFill>
                  <a:srgbClr val="8295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СКРИНШОТ · База знаний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· 04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26791"/>
            <a:ext cx="9373642" cy="5738068"/>
          </a:xfrm>
          <a:prstGeom prst="roundRect">
            <a:avLst>
              <a:gd name="adj" fmla="val 298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666750" dist="323850" dir="5400000">
              <a:srgbClr val="080F1C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925" y="2436316"/>
            <a:ext cx="9354592" cy="457200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7" name="Shape 5"/>
          <p:cNvSpPr/>
          <p:nvPr/>
        </p:nvSpPr>
        <p:spPr>
          <a:xfrm>
            <a:off x="1114425" y="2603004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323975" y="2603004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533525" y="2603004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8"/>
          <p:cNvSpPr/>
          <p:nvPr/>
        </p:nvSpPr>
        <p:spPr>
          <a:xfrm>
            <a:off x="1876425" y="2541091"/>
            <a:ext cx="4191000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028825" y="2541091"/>
            <a:ext cx="40119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mobilservice.ru / dashboard.html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923925" y="2893516"/>
            <a:ext cx="9354592" cy="5261818"/>
          </a:xfrm>
          <a:prstGeom prst="rect">
            <a:avLst/>
          </a:prstGeom>
          <a:solidFill>
            <a:srgbClr val="EEF2F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4921" y="5067151"/>
            <a:ext cx="552450" cy="552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000946" y="5772001"/>
            <a:ext cx="35204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5" kern="0" dirty="0">
                <a:solidFill>
                  <a:srgbClr val="8295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СКРИНШОТ · Дашборд мониторинга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10859542" y="3232398"/>
            <a:ext cx="6709327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 </a:t>
            </a:r>
            <a:pPr algn="l" indent="0" marL="0">
              <a:lnSpc>
                <a:spcPct val="110000"/>
              </a:lnSpc>
              <a:buNone/>
            </a:pPr>
            <a:r>
              <a:rPr lang="en-US" sz="3750" b="1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мониторинг транспорта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10859542" y="4489698"/>
            <a:ext cx="6709327" cy="698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видит перевозки в реальном времени: статусы, маршруты и аналитику.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0859542" y="5416302"/>
            <a:ext cx="3195042" cy="962025"/>
          </a:xfrm>
          <a:prstGeom prst="roundRect">
            <a:avLst>
              <a:gd name="adj" fmla="val 13861"/>
            </a:avLst>
          </a:prstGeom>
          <a:solidFill>
            <a:srgbClr val="0F1E38"/>
          </a:solidFill>
          <a:ln/>
        </p:spPr>
      </p:sp>
      <p:sp>
        <p:nvSpPr>
          <p:cNvPr id="18" name="Text 15"/>
          <p:cNvSpPr/>
          <p:nvPr/>
        </p:nvSpPr>
        <p:spPr>
          <a:xfrm>
            <a:off x="11069092" y="5606802"/>
            <a:ext cx="305353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1069092" y="5997327"/>
            <a:ext cx="30535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пути сейчас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4178409" y="5416302"/>
            <a:ext cx="3195042" cy="962025"/>
          </a:xfrm>
          <a:prstGeom prst="roundRect">
            <a:avLst>
              <a:gd name="adj" fmla="val 13861"/>
            </a:avLst>
          </a:prstGeom>
          <a:solidFill>
            <a:srgbClr val="1976D2"/>
          </a:solidFill>
          <a:ln/>
        </p:spPr>
      </p:sp>
      <p:sp>
        <p:nvSpPr>
          <p:cNvPr id="21" name="Text 18"/>
          <p:cNvSpPr/>
          <p:nvPr/>
        </p:nvSpPr>
        <p:spPr>
          <a:xfrm>
            <a:off x="14387959" y="5606802"/>
            <a:ext cx="305353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4387959" y="5997327"/>
            <a:ext cx="30535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геопозиция ТС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859542" y="6502152"/>
            <a:ext cx="3195042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078617" y="6702177"/>
            <a:ext cx="30325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11078617" y="6968877"/>
            <a:ext cx="30325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Excel · CSV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4178409" y="6502152"/>
            <a:ext cx="3195042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CF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397484" y="6702177"/>
            <a:ext cx="30325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</a:t>
            </a:r>
            <a:endParaRPr lang="en-US" sz="1575" dirty="0"/>
          </a:p>
        </p:txBody>
      </p:sp>
      <p:sp>
        <p:nvSpPr>
          <p:cNvPr id="28" name="Text 25"/>
          <p:cNvSpPr/>
          <p:nvPr/>
        </p:nvSpPr>
        <p:spPr>
          <a:xfrm>
            <a:off x="14397484" y="6968877"/>
            <a:ext cx="30325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задержки и события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9A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— 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47800"/>
            <a:ext cx="1810512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spc="-75" kern="0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работы над проектом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295400" y="3083421"/>
            <a:ext cx="15697200" cy="28575"/>
          </a:xfrm>
          <a:prstGeom prst="rect">
            <a:avLst/>
          </a:prstGeom>
          <a:gradFill rotWithShape="1">
            <a:gsLst>
              <a:gs pos="0">
                <a:srgbClr val="1976D2">
                  <a:alpha val="100000"/>
                </a:srgbClr>
              </a:gs>
              <a:gs pos="100000">
                <a:srgbClr val="9CC6F0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1843088" y="2711946"/>
            <a:ext cx="742950" cy="74295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50800" dir="16200000">
              <a:srgbClr val="F4F7FA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04988" y="2711946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84384" y="3683496"/>
            <a:ext cx="28603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ТЗ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784384" y="3988296"/>
            <a:ext cx="286035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Изучение требований и трёх ТЗ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4863" y="2711946"/>
            <a:ext cx="742950" cy="74295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50800" dir="16200000">
              <a:srgbClr val="F4F7FA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6763" y="2711946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556159" y="3683496"/>
            <a:ext cx="28603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3556159" y="3988296"/>
            <a:ext cx="286035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Структура, схема БД, макеты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86638" y="2711946"/>
            <a:ext cx="742950" cy="74295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50800" dir="16200000">
              <a:srgbClr val="F4F7FA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48538" y="2711946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327934" y="3683496"/>
            <a:ext cx="28603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327934" y="3988296"/>
            <a:ext cx="286035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Адаптивная вёрстка разделов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158413" y="2711946"/>
            <a:ext cx="742950" cy="74295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50800" dir="16200000">
              <a:srgbClr val="F4F7FA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120313" y="2711946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099709" y="3683496"/>
            <a:ext cx="28603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API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9099709" y="3988296"/>
            <a:ext cx="286035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PHP, REST, JWT, MySQL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930188" y="2711946"/>
            <a:ext cx="742950" cy="742950"/>
          </a:xfrm>
          <a:prstGeom prst="ellipse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50800" dir="16200000">
              <a:srgbClr val="F4F7FA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892088" y="2711946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871484" y="3683496"/>
            <a:ext cx="28603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1871484" y="3988296"/>
            <a:ext cx="286035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Адаптивность и проверка ролей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701963" y="2711946"/>
            <a:ext cx="742950" cy="742950"/>
          </a:xfrm>
          <a:prstGeom prst="ellipse">
            <a:avLst/>
          </a:prstGeom>
          <a:solidFill>
            <a:srgbClr val="0F1E38"/>
          </a:solidFill>
          <a:ln/>
          <a:effectLst>
            <a:outerShdw sx="100000" sy="100000" kx="0" ky="0" algn="bl" rotWithShape="0" blurRad="101600" dist="50800" dir="16200000">
              <a:srgbClr val="F4F7FA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663862" y="2711946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4643259" y="3683496"/>
            <a:ext cx="28603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1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Деплой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4643259" y="3988296"/>
            <a:ext cx="286035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Compose, запуск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335C">
                  <a:alpha val="100000"/>
                </a:srgbClr>
              </a:gs>
              <a:gs pos="52000">
                <a:srgbClr val="0B1628">
                  <a:alpha val="100000"/>
                </a:srgbClr>
              </a:gs>
              <a:gs pos="100000">
                <a:srgbClr val="070D18">
                  <a:alpha val="100000"/>
                </a:srgbClr>
              </a:gs>
            </a:gsLst>
            <a:path path="circle">
              <a:fillToRect l="15000" t="0" r="85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6706850" y="8001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75" kern="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— 14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914400" y="800100"/>
            <a:ext cx="181051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25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914400" y="1133475"/>
            <a:ext cx="514350" cy="28575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47800"/>
            <a:ext cx="1810512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сделано за время практики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2521446"/>
            <a:ext cx="3957638" cy="1663005"/>
          </a:xfrm>
          <a:prstGeom prst="roundRect">
            <a:avLst>
              <a:gd name="adj" fmla="val 1145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9675" y="2854821"/>
            <a:ext cx="37037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209675" y="3597771"/>
            <a:ext cx="370379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разделов и страниц сайта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5081588" y="2521446"/>
            <a:ext cx="3957638" cy="1663005"/>
          </a:xfrm>
          <a:prstGeom prst="roundRect">
            <a:avLst>
              <a:gd name="adj" fmla="val 1145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863" y="2854821"/>
            <a:ext cx="37037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376863" y="3597771"/>
            <a:ext cx="370379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пользователей и доступа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248775" y="2521446"/>
            <a:ext cx="3957638" cy="1663005"/>
          </a:xfrm>
          <a:prstGeom prst="roundRect">
            <a:avLst>
              <a:gd name="adj" fmla="val 1145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44050" y="2854821"/>
            <a:ext cx="37037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544050" y="3597771"/>
            <a:ext cx="370379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 базы данных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3415963" y="2521446"/>
            <a:ext cx="3957638" cy="1663005"/>
          </a:xfrm>
          <a:prstGeom prst="roundRect">
            <a:avLst>
              <a:gd name="adj" fmla="val 1145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1238" y="2854821"/>
            <a:ext cx="37037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3711238" y="3597771"/>
            <a:ext cx="370379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Docker-контейнера в окружении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14400" y="4413052"/>
            <a:ext cx="5346650" cy="1047750"/>
          </a:xfrm>
          <a:prstGeom prst="roundRect">
            <a:avLst>
              <a:gd name="adj" fmla="val 14545"/>
            </a:avLst>
          </a:prstGeom>
          <a:solidFill>
            <a:srgbClr val="4A9EFF">
              <a:alpha val="12000"/>
            </a:srgbClr>
          </a:solidFill>
          <a:ln w="9525">
            <a:solidFill>
              <a:srgbClr val="4A9E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0625" y="4651177"/>
            <a:ext cx="49546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корпоративный сайт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CMS и адаптивным дизайном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70600" y="4413052"/>
            <a:ext cx="5346650" cy="1047750"/>
          </a:xfrm>
          <a:prstGeom prst="roundRect">
            <a:avLst>
              <a:gd name="adj" fmla="val 14545"/>
            </a:avLst>
          </a:prstGeom>
          <a:solidFill>
            <a:srgbClr val="4A9EFF">
              <a:alpha val="12000"/>
            </a:srgbClr>
          </a:solidFill>
          <a:ln w="9525">
            <a:solidFill>
              <a:srgbClr val="4A9E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6825" y="4651177"/>
            <a:ext cx="49546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поиском и правами доступа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026801" y="4413052"/>
            <a:ext cx="5346650" cy="1047750"/>
          </a:xfrm>
          <a:prstGeom prst="roundRect">
            <a:avLst>
              <a:gd name="adj" fmla="val 14545"/>
            </a:avLst>
          </a:prstGeom>
          <a:solidFill>
            <a:srgbClr val="4A9EFF">
              <a:alpha val="12000"/>
            </a:srgbClr>
          </a:solidFill>
          <a:ln w="9525">
            <a:solidFill>
              <a:srgbClr val="4A9E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03026" y="4651177"/>
            <a:ext cx="49546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Клиентский портал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дашбордом мониторинга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335C">
                  <a:alpha val="100000"/>
                </a:srgbClr>
              </a:gs>
              <a:gs pos="50000">
                <a:srgbClr val="0B1628">
                  <a:alpha val="100000"/>
                </a:srgbClr>
              </a:gs>
              <a:gs pos="100000">
                <a:srgbClr val="070D18">
                  <a:alpha val="100000"/>
                </a:srgbClr>
              </a:gs>
            </a:gsLst>
            <a:path path="circle">
              <a:fillToRect l="82000" t="100000" r="1800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3525500" y="609600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1976D2">
                  <a:alpha val="32000"/>
                </a:srgbClr>
              </a:gs>
              <a:gs pos="65000">
                <a:srgbClr val="1976D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395833" r="-395833" t="0" b="0"/>
          <a:stretch/>
        </p:blipFill>
        <p:spPr>
          <a:xfrm>
            <a:off x="933450" y="914400"/>
            <a:ext cx="16306800" cy="1028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4427339"/>
            <a:ext cx="178117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ПРАКТИКА · ТЮМГУ ·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47750" y="4846439"/>
            <a:ext cx="178117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</a:t>
            </a:r>
            <a:pPr algn="l" indent="0" marL="0">
              <a:lnSpc>
                <a:spcPct val="105000"/>
              </a:lnSpc>
              <a:buNone/>
            </a:pPr>
            <a:r>
              <a:rPr lang="en-US" sz="66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внимание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1047750" y="599316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ответить на ваши вопросы.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47750" y="8753475"/>
            <a:ext cx="16192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9048750"/>
            <a:ext cx="50839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Исмагилов Рифат · Шмеляк Даниил · Чекалёв Денис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582775" y="9182100"/>
            <a:ext cx="29232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github.com/rifatism/mobil-group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2026-06-25T09:13:48Z</dcterms:created>
  <dcterms:modified xsi:type="dcterms:W3CDTF">2026-06-25T09:13:48Z</dcterms:modified>
</cp:coreProperties>
</file>